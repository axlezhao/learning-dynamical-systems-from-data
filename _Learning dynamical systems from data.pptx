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  <p:sldMasterId id="214748370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Arimo"/>
      <p:regular r:id="rId21"/>
      <p:bold r:id="rId22"/>
      <p:italic r:id="rId23"/>
      <p:boldItalic r:id="rId24"/>
    </p:embeddedFont>
    <p:embeddedFont>
      <p:font typeface="Arimo SemiBold"/>
      <p:regular r:id="rId25"/>
      <p:bold r:id="rId26"/>
      <p:italic r:id="rId27"/>
      <p:boldItalic r:id="rId28"/>
    </p:embeddedFont>
    <p:embeddedFont>
      <p:font typeface="Arimo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2BEDFC-414A-4BCA-9B3E-6E71A922788B}">
  <a:tblStyle styleId="{9A2BEDFC-414A-4BCA-9B3E-6E71A92278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ArimoSemiBold-bold.fntdata"/><Relationship Id="rId25" Type="http://schemas.openxmlformats.org/officeDocument/2006/relationships/font" Target="fonts/ArimoSemiBold-regular.fntdata"/><Relationship Id="rId28" Type="http://schemas.openxmlformats.org/officeDocument/2006/relationships/font" Target="fonts/ArimoSemiBold-boldItalic.fntdata"/><Relationship Id="rId27" Type="http://schemas.openxmlformats.org/officeDocument/2006/relationships/font" Target="fonts/ArimoSemiBold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ArimoMedium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rimoMedium-italic.fntdata"/><Relationship Id="rId30" Type="http://schemas.openxmlformats.org/officeDocument/2006/relationships/font" Target="fonts/ArimoMedium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ArimoMedium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0ec3ac36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0ec3ac3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0ec3ac36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e0ec3ac36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0ec3ac369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0ec3ac369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0ec3ac369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e0ec3ac369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0ec3ac369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e0ec3ac369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0ec3ac369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e0ec3ac369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0ec3ac369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0ec3ac369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0ec3ac369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0ec3ac369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0ec3ac369_0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0ec3ac369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0ec3ac369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0ec3ac369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0ec3ac369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0ec3ac369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0ec3ac369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0ec3ac369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e0ec3ac369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e0ec3ac369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type="title"/>
          </p:nvPr>
        </p:nvSpPr>
        <p:spPr>
          <a:xfrm>
            <a:off x="587850" y="1126312"/>
            <a:ext cx="7968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4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Learning Dynamical Systems From Data</a:t>
            </a:r>
            <a:endParaRPr sz="4400"/>
          </a:p>
        </p:txBody>
      </p:sp>
      <p:sp>
        <p:nvSpPr>
          <p:cNvPr id="398" name="Google Shape;398;p56"/>
          <p:cNvSpPr txBox="1"/>
          <p:nvPr>
            <p:ph idx="1" type="subTitle"/>
          </p:nvPr>
        </p:nvSpPr>
        <p:spPr>
          <a:xfrm>
            <a:off x="311700" y="2936367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Axle Zhao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APMA 2070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Prof. George Karniadakis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7"/>
          <p:cNvSpPr txBox="1"/>
          <p:nvPr>
            <p:ph idx="1" type="subTitle"/>
          </p:nvPr>
        </p:nvSpPr>
        <p:spPr>
          <a:xfrm>
            <a:off x="805654" y="4567850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[1]</a:t>
            </a:r>
            <a:r>
              <a:rPr lang="en"/>
              <a:t>https://www.britannica.com/technology/pendulum</a:t>
            </a:r>
            <a:endParaRPr/>
          </a:p>
        </p:txBody>
      </p:sp>
      <p:pic>
        <p:nvPicPr>
          <p:cNvPr id="404" name="Google Shape;40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650" y="940250"/>
            <a:ext cx="3089728" cy="303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7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Background - Pendulum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06" name="Google Shape;406;p57" title="Screenshot 2026-05-11 at 4.16.2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725" y="1303850"/>
            <a:ext cx="1981601" cy="16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7"/>
          <p:cNvSpPr txBox="1"/>
          <p:nvPr/>
        </p:nvSpPr>
        <p:spPr>
          <a:xfrm>
            <a:off x="4345525" y="3168050"/>
            <a:ext cx="38499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g:  gravitational constant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L:  pendulum length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θ: angular displacement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pθ: angular momentum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8" name="Google Shape;408;p57"/>
          <p:cNvSpPr txBox="1"/>
          <p:nvPr/>
        </p:nvSpPr>
        <p:spPr>
          <a:xfrm>
            <a:off x="4281125" y="944525"/>
            <a:ext cx="3089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Hamiltonian equations of motion: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Background - </a:t>
            </a:r>
            <a:r>
              <a:rPr b="1" lang="en" sz="1800">
                <a:solidFill>
                  <a:schemeClr val="dk1"/>
                </a:solidFill>
              </a:rPr>
              <a:t>Dataset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14" name="Google Shape;414;p58"/>
          <p:cNvSpPr txBox="1"/>
          <p:nvPr/>
        </p:nvSpPr>
        <p:spPr>
          <a:xfrm>
            <a:off x="626250" y="923975"/>
            <a:ext cx="78744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on dimensionalized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system with m = l = g = 1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140 total time steps: 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train.txt (n=40), test.txt (n=100). Initial conditions [pθ(0), θ(0)] = [0, 1].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Trajectory data generated using the symplectic Störmer–Verlet integrator (h = 0.1)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Chosen because it preserves Hamiltonian structure and long-time energy stability.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15" name="Google Shape;415;p58" title="Screenshot 2026-05-11 at 4.55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00" y="1909550"/>
            <a:ext cx="4694775" cy="2881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8" title="Screenshot 2026-05-11 at 4.55.1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0875" y="1875000"/>
            <a:ext cx="3192001" cy="3018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Physics Sanity Checks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22" name="Google Shape;422;p59" title="Screenshot 2026-05-11 at 4.50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775" y="1204009"/>
            <a:ext cx="3297150" cy="7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9"/>
          <p:cNvSpPr txBox="1"/>
          <p:nvPr/>
        </p:nvSpPr>
        <p:spPr>
          <a:xfrm>
            <a:off x="800775" y="893175"/>
            <a:ext cx="25974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Hamiltonian: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4" name="Google Shape;424;p59"/>
          <p:cNvSpPr txBox="1"/>
          <p:nvPr/>
        </p:nvSpPr>
        <p:spPr>
          <a:xfrm>
            <a:off x="862375" y="2145700"/>
            <a:ext cx="3090300" cy="15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1st term: kinetic energy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2nd term: gravitational potential energy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5" name="Google Shape;425;p59"/>
          <p:cNvSpPr txBox="1"/>
          <p:nvPr/>
        </p:nvSpPr>
        <p:spPr>
          <a:xfrm>
            <a:off x="882950" y="2790875"/>
            <a:ext cx="3069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 = l = g = 1: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For a frictionless pendulum, the total Hamiltonian energy should remain constant over time.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26" name="Google Shape;426;p59" title="Screenshot 2026-05-11 at 5.04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650" y="3127175"/>
            <a:ext cx="1933300" cy="5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9" title="Screenshot 2026-05-11 at 5.07.0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4200" y="1509774"/>
            <a:ext cx="4741273" cy="2620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0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FNN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33" name="Google Shape;433;p60" title="Screenshot 2026-05-11 at 5.51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300" y="953375"/>
            <a:ext cx="3054550" cy="8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0"/>
          <p:cNvSpPr txBox="1"/>
          <p:nvPr/>
        </p:nvSpPr>
        <p:spPr>
          <a:xfrm>
            <a:off x="544125" y="1889025"/>
            <a:ext cx="35316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Feedforward neural network trained on one-step transitions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Loss: MSE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Optimizer: Adam, learning rate = 10⁻³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35" name="Google Shape;435;p60" title="Screenshot 2026-05-11 at 5.52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6800" y="419500"/>
            <a:ext cx="3755424" cy="226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0" title="Screenshot 2026-05-11 at 5.52.5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8925" y="2761650"/>
            <a:ext cx="3691174" cy="21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0"/>
          <p:cNvSpPr txBox="1"/>
          <p:nvPr/>
        </p:nvSpPr>
        <p:spPr>
          <a:xfrm>
            <a:off x="544125" y="3583025"/>
            <a:ext cx="38859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Mean teacher-forcing MSE: 1.66 × 10⁻⁵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FNN accurately learns local one-step dynamics.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FNN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43" name="Google Shape;443;p61" title="Screenshot 2026-05-11 at 5.55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00" y="872550"/>
            <a:ext cx="4039176" cy="36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61" title="Screenshot 2026-05-11 at 5.55.2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875" y="921651"/>
            <a:ext cx="3997974" cy="2304513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61"/>
          <p:cNvSpPr txBox="1"/>
          <p:nvPr/>
        </p:nvSpPr>
        <p:spPr>
          <a:xfrm>
            <a:off x="4643875" y="3357125"/>
            <a:ext cx="50169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One-step errors accumulate during rollout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Rollout drifts away from the true Hamiltonian orbit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FNN does not explicitly preserve Hamiltonian structure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Energy variation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4.82×10⁻² (vs 10⁻¹⁴ for true dynamics)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SympNet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51" name="Google Shape;451;p62" title="Screenshot 2026-05-12 at 1.34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50" y="840425"/>
            <a:ext cx="2640076" cy="16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2"/>
          <p:cNvSpPr txBox="1"/>
          <p:nvPr/>
        </p:nvSpPr>
        <p:spPr>
          <a:xfrm>
            <a:off x="811050" y="2689825"/>
            <a:ext cx="34803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SympNet enforces symplectic structure in phase space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Built from alternating symplectic shear maps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Goal: improve long-term rollout stability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53" name="Google Shape;453;p62" title="Screenshot 2026-05-12 at 1.38.1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500" y="809649"/>
            <a:ext cx="3902874" cy="36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3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SympNet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59" name="Google Shape;459;p63" title="Screenshot 2026-05-12 at 1.39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300" y="923188"/>
            <a:ext cx="3576400" cy="32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3"/>
          <p:cNvSpPr txBox="1"/>
          <p:nvPr/>
        </p:nvSpPr>
        <p:spPr>
          <a:xfrm>
            <a:off x="4479600" y="1160125"/>
            <a:ext cx="4442100" cy="16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SympNet preserves orbit geometry better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Energy drift reduced: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  ΔH: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  FNN  ≈ 4.8×10⁻²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  SympNet ≈ 1.5×10⁻²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Rollout MSE remains larger than FNN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Better physics consistency does not guarantee lower pointwise error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Structure preservation improves physical consistency,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but not necessarily rollout MSE.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4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PINN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66" name="Google Shape;466;p64" title="Screenshot 2026-05-12 at 1.44.3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50" y="826450"/>
            <a:ext cx="2979375" cy="19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4"/>
          <p:cNvSpPr txBox="1"/>
          <p:nvPr/>
        </p:nvSpPr>
        <p:spPr>
          <a:xfrm>
            <a:off x="754300" y="2712042"/>
            <a:ext cx="38178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PINN learns physical parameters m and l from trajectory data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Loss combines data fitting + Hamiltonian physics residual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Learned: m ≈ 0.9994,  l ≈ 1.0003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Parameters converge close to true values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68" name="Google Shape;468;p64" title="Screenshot 2026-05-12 at 1.45.52 AM.png"/>
          <p:cNvPicPr preferRelativeResize="0"/>
          <p:nvPr/>
        </p:nvPicPr>
        <p:blipFill rotWithShape="1">
          <a:blip r:embed="rId4">
            <a:alphaModFix/>
          </a:blip>
          <a:srcRect b="23283" l="0" r="4150" t="0"/>
          <a:stretch/>
        </p:blipFill>
        <p:spPr>
          <a:xfrm>
            <a:off x="4267550" y="959925"/>
            <a:ext cx="4500025" cy="2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4"/>
          <p:cNvSpPr txBox="1"/>
          <p:nvPr/>
        </p:nvSpPr>
        <p:spPr>
          <a:xfrm>
            <a:off x="4402325" y="3795400"/>
            <a:ext cx="403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Trajectory data are sufficient to recover the true pendulum parameters.</a:t>
            </a:r>
            <a:endParaRPr b="1"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5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PINN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75" name="Google Shape;475;p65" title="Screenshot 2026-05-12 at 1.47.0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200" y="841850"/>
            <a:ext cx="4010925" cy="362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5" title="Screenshot 2026-05-12 at 1.47.38 AM.png"/>
          <p:cNvPicPr preferRelativeResize="0"/>
          <p:nvPr/>
        </p:nvPicPr>
        <p:blipFill rotWithShape="1">
          <a:blip r:embed="rId4">
            <a:alphaModFix/>
          </a:blip>
          <a:srcRect b="14362" l="0" r="0" t="0"/>
          <a:stretch/>
        </p:blipFill>
        <p:spPr>
          <a:xfrm>
            <a:off x="4810125" y="841850"/>
            <a:ext cx="4029074" cy="19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5"/>
          <p:cNvSpPr txBox="1"/>
          <p:nvPr/>
        </p:nvSpPr>
        <p:spPr>
          <a:xfrm>
            <a:off x="4886800" y="2997750"/>
            <a:ext cx="40758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PINN rollout closely matches the true orbit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Mean rollout MSE: 1.45 × 10^-6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Energy drift remains very small:  ΔH ≈ 1.17 × 10^-3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8" name="Google Shape;478;p65"/>
          <p:cNvSpPr txBox="1"/>
          <p:nvPr/>
        </p:nvSpPr>
        <p:spPr>
          <a:xfrm>
            <a:off x="4958700" y="3839650"/>
            <a:ext cx="3439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PINN recovers both accurate trajectories and physically consistent dynamics.</a:t>
            </a:r>
            <a:endParaRPr b="1"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6"/>
          <p:cNvSpPr txBox="1"/>
          <p:nvPr/>
        </p:nvSpPr>
        <p:spPr>
          <a:xfrm>
            <a:off x="754300" y="308299"/>
            <a:ext cx="3952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PINN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84" name="Google Shape;484;p66" title="Screenshot 2026-05-12 at 1.49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50" y="831575"/>
            <a:ext cx="4857276" cy="285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6" title="Screenshot 2026-05-12 at 1.49.2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6325" y="831575"/>
            <a:ext cx="3232125" cy="29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6"/>
          <p:cNvSpPr txBox="1"/>
          <p:nvPr/>
        </p:nvSpPr>
        <p:spPr>
          <a:xfrm>
            <a:off x="357725" y="3625650"/>
            <a:ext cx="48573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±1% parameter perturbations cause growing trajectory error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Length perturbations affect rollout more strongly than mass perturbations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• Small parameter errors accumulate over long horizons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5215013" y="3911525"/>
            <a:ext cx="3519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Small parameter uncertainty can produce large long-time trajectory deviations.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/>
          <p:nvPr/>
        </p:nvSpPr>
        <p:spPr>
          <a:xfrm>
            <a:off x="754300" y="308300"/>
            <a:ext cx="553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Comparative Analysis: FNN vs SympNet vs PINN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493" name="Google Shape;493;p67"/>
          <p:cNvGraphicFramePr/>
          <p:nvPr/>
        </p:nvGraphicFramePr>
        <p:xfrm>
          <a:off x="702965" y="742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{9A2BEDFC-414A-4BCA-9B3E-6E71A922788B}</a:tableStyleId>
              </a:tblPr>
              <a:tblGrid>
                <a:gridCol w="3130425"/>
                <a:gridCol w="681875"/>
                <a:gridCol w="2138650"/>
                <a:gridCol w="2866975"/>
              </a:tblGrid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Property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FNN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SympNet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PINN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6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Inductive bias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Physics structure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Symplectic geometry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Hamiltonian dynamics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efficiency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Long-time energy behavior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Weak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Rollout MSE (this experiment)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Worse than FNN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overall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Robustness to distribution shift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Medium–High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Highest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4" name="Google Shape;494;p67"/>
          <p:cNvSpPr txBox="1"/>
          <p:nvPr/>
        </p:nvSpPr>
        <p:spPr>
          <a:xfrm>
            <a:off x="702975" y="3942350"/>
            <a:ext cx="79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Increasing physical inductive bias improves consistency and robustness, but stronger structure does not always minimize rollout error.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"/>
          <p:cNvSpPr txBox="1"/>
          <p:nvPr>
            <p:ph type="title"/>
          </p:nvPr>
        </p:nvSpPr>
        <p:spPr>
          <a:xfrm>
            <a:off x="717773" y="141832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500" name="Google Shape;50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627900"/>
            <a:ext cx="610500" cy="61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68"/>
          <p:cNvCxnSpPr/>
          <p:nvPr/>
        </p:nvCxnSpPr>
        <p:spPr>
          <a:xfrm>
            <a:off x="5260800" y="278400"/>
            <a:ext cx="0" cy="45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6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